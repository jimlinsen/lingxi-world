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notesSlides/notesSlide1.xml" Type="http://schemas.openxmlformats.org/officeDocument/2006/relationships/notesSlide"/><Relationship Id="rId14" Target="notesSlides/notesSlide2.xml" Type="http://schemas.openxmlformats.org/officeDocument/2006/relationships/notesSlide"/><Relationship Id="rId15" Target="notesSlides/notesSlide3.xml" Type="http://schemas.openxmlformats.org/officeDocument/2006/relationships/notesSlide"/><Relationship Id="rId16" Target="notesSlides/notesSlide4.xml" Type="http://schemas.openxmlformats.org/officeDocument/2006/relationships/notesSlide"/><Relationship Id="rId2" Target="viewProps.xml" Type="http://schemas.openxmlformats.org/officeDocument/2006/relationships/viewProps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.pn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.pn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A1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25193" r="25193" t="0" b="0"/>
          <a:stretch>
            <a:fillRect/>
          </a:stretch>
        </p:blipFill>
        <p:spPr>
          <a:xfrm rot="0" flipH="false" flipV="false">
            <a:off x="6096000" y="0"/>
            <a:ext cx="6096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  <a:effectLst>
            <a:outerShdw dir="2700000" dist="0" blurRad="508000" algn="tl" rotWithShape="false">
              <a:srgbClr val="20E3FF">
                <a:alpha val="20000"/>
              </a:srgbClr>
            </a:outerShdw>
          </a:effectLst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6096000" cy="6858000"/>
          </a:xfrm>
          <a:prstGeom prst="roundRect">
            <a:avLst>
              <a:gd name="adj" fmla="val 0"/>
            </a:avLst>
          </a:prstGeom>
          <a:solidFill>
            <a:srgbClr val="070A12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4" id="4"/>
          <p:cNvCxnSpPr/>
          <p:nvPr/>
        </p:nvCxnSpPr>
        <p:spPr>
          <a:xfrm rot="5388540" flipH="false" flipV="false">
            <a:off x="-1143000" y="3422661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mpd="sng" cap="flat">
            <a:solidFill>
              <a:srgbClr val="20E3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143000" y="1651000"/>
            <a:ext cx="4572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b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EA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Collapse</a:t>
            </a:r>
            <a:br>
              <a:rPr lang="en-US" b="true" i="false" strike="noStrike" u="none" sz="4800">
                <a:solidFill>
                  <a:srgbClr val="EAF2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n-US" b="true" i="false" strike="noStrike" u="none" sz="4800">
                <a:solidFill>
                  <a:srgbClr val="EA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of Reality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43000" y="32385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20E3FF"/>
                </a:solidFill>
                <a:latin typeface="Space Grotesk"/>
                <a:ea typeface="Space Grotesk"/>
                <a:cs typeface="Space Grotesk"/>
                <a:sym typeface="Space Grotesk"/>
              </a:rPr>
              <a:t>When the city’s physics becomes syntax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43000" y="4064000"/>
            <a:ext cx="4318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-228600" marL="228600">
              <a:lnSpc>
                <a:spcPct val="125000"/>
              </a:lnSpc>
              <a:buClr>
                <a:srgbClr val="B7C3D6"/>
              </a:buClr>
              <a:buChar char="•"/>
              <a:defRPr/>
            </a:pPr>
            <a:r>
              <a:rPr lang="en-US" b="false" i="false" strike="noStrike" u="none" sz="1800">
                <a:solidFill>
                  <a:srgbClr val="B7C3D6"/>
                </a:solidFill>
                <a:latin typeface="Inter"/>
                <a:ea typeface="Inter"/>
                <a:cs typeface="Inter"/>
                <a:sym typeface="Inter"/>
              </a:rPr>
              <a:t>Architecture breaks into symbols</a:t>
            </a:r>
            <a:endParaRPr lang="en-US" sz="1100"/>
          </a:p>
          <a:p>
            <a:pPr algn="l" indent="-228600" marL="228600">
              <a:lnSpc>
                <a:spcPct val="125000"/>
              </a:lnSpc>
              <a:buClr>
                <a:srgbClr val="B7C3D6"/>
              </a:buClr>
              <a:buChar char="•"/>
            </a:pPr>
            <a:r>
              <a:rPr lang="en-US" b="false" i="false" strike="noStrike" u="none" sz="1800">
                <a:solidFill>
                  <a:srgbClr val="B7C3D6"/>
                </a:solidFill>
                <a:latin typeface="Inter"/>
                <a:ea typeface="Inter"/>
                <a:cs typeface="Inter"/>
                <a:sym typeface="Inter"/>
              </a:rPr>
              <a:t>Meaning outlives matter</a:t>
            </a:r>
          </a:p>
          <a:p>
            <a:pPr algn="l" indent="-228600" marL="228600">
              <a:lnSpc>
                <a:spcPct val="125000"/>
              </a:lnSpc>
              <a:buClr>
                <a:srgbClr val="B7C3D6"/>
              </a:buClr>
              <a:buChar char="•"/>
            </a:pPr>
            <a:r>
              <a:rPr lang="en-US" b="false" i="false" strike="noStrike" u="none" sz="1800">
                <a:solidFill>
                  <a:srgbClr val="B7C3D6"/>
                </a:solidFill>
                <a:latin typeface="Inter"/>
                <a:ea typeface="Inter"/>
                <a:cs typeface="Inter"/>
                <a:sym typeface="Inter"/>
              </a:rPr>
              <a:t>The glitch is a doorway, not an error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08000" y="508000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70A12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112000" y="1016000"/>
            <a:ext cx="4318000" cy="4826000"/>
          </a:xfrm>
          <a:prstGeom prst="roundRect">
            <a:avLst>
              <a:gd name="adj" fmla="val 3529"/>
            </a:avLst>
          </a:prstGeom>
          <a:solidFill>
            <a:srgbClr val="070A12">
              <a:alpha val="85000"/>
            </a:srgbClr>
          </a:solidFill>
          <a:ln w="12700" cmpd="sng" cap="flat">
            <a:solidFill>
              <a:srgbClr val="FF3BD4">
                <a:alpha val="100000"/>
              </a:srgbClr>
            </a:solidFill>
            <a:prstDash val="solid"/>
            <a:round/>
          </a:ln>
          <a:effectLst>
            <a:outerShdw dir="2700000" dist="0" blurRad="317500" algn="tl" rotWithShape="false">
              <a:srgbClr val="FF3BD4">
                <a:alpha val="3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493000" y="1397000"/>
            <a:ext cx="355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EA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Observer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493000" y="19685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F3BD4"/>
                </a:solidFill>
                <a:latin typeface="Space Grotesk"/>
                <a:ea typeface="Space Grotesk"/>
                <a:cs typeface="Space Grotesk"/>
                <a:sym typeface="Space Grotesk"/>
              </a:rPr>
              <a:t>Sherlock S-211-B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493000" y="2667000"/>
            <a:ext cx="3556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B7C3D6"/>
                </a:solidFill>
                <a:latin typeface="Inter"/>
                <a:ea typeface="Inter"/>
                <a:cs typeface="Inter"/>
                <a:sym typeface="Inter"/>
              </a:rPr>
              <a:t>Watches the fracture lines in everyday causality.</a:t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B7C3D6"/>
                </a:solidFill>
                <a:latin typeface="Inter"/>
                <a:ea typeface="Inter"/>
                <a:cs typeface="Inter"/>
                <a:sym typeface="Inter"/>
              </a:rPr>
              <a:t>Reads intent as patterns in signal noise.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B7C3D6"/>
                </a:solidFill>
                <a:latin typeface="Inter"/>
                <a:ea typeface="Inter"/>
                <a:cs typeface="Inter"/>
                <a:sym typeface="Inter"/>
              </a:rPr>
              <a:t>Never touches the system—only nudges the narrative.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493000" y="5080000"/>
            <a:ext cx="2540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A1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23871" b="23871"/>
          <a:stretch>
            <a:fillRect/>
          </a:stretch>
        </p:blipFill>
        <p:spPr>
          <a:xfrm rot="0" flipH="false" flipV="false">
            <a:off x="0" y="0"/>
            <a:ext cx="12192000" cy="3556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3530600"/>
            <a:ext cx="12192000" cy="25400"/>
          </a:xfrm>
          <a:prstGeom prst="roundRect">
            <a:avLst>
              <a:gd name="adj" fmla="val 0"/>
            </a:avLst>
          </a:prstGeom>
          <a:solidFill>
            <a:srgbClr val="20E3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3810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EA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Logical Grit: The Gears of Causality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4699000"/>
            <a:ext cx="3302000" cy="1524000"/>
          </a:xfrm>
          <a:prstGeom prst="roundRect">
            <a:avLst>
              <a:gd name="adj" fmla="val 6666"/>
            </a:avLst>
          </a:prstGeom>
          <a:solidFill>
            <a:srgbClr val="20E3FF">
              <a:alpha val="5000"/>
            </a:srgbClr>
          </a:solidFill>
          <a:ln w="12700" cmpd="sng" cap="flat">
            <a:solidFill>
              <a:srgbClr val="20E3FF">
                <a:alpha val="3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0E3FF"/>
                </a:solidFill>
                <a:latin typeface="Inter"/>
                <a:ea typeface="Inter"/>
                <a:cs typeface="Inter"/>
                <a:sym typeface="Inter"/>
              </a:rPr>
              <a:t>TEETH AND TORQUE</a:t>
            </a:r>
            <a:r>
              <a:rPr lang="en-US" b="false" i="false" strike="noStrike" u="none" sz="1600">
                <a:solidFill>
                  <a:srgbClr val="B7C3D6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br>
              <a:rPr lang="en-US" b="false" i="false" strike="noStrike" u="none" sz="1600">
                <a:solidFill>
                  <a:srgbClr val="B7C3D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false" i="false" strike="noStrike" u="none" sz="1600">
                <a:solidFill>
                  <a:srgbClr val="B7C3D6"/>
                </a:solidFill>
                <a:latin typeface="Inter"/>
                <a:ea typeface="Inter"/>
                <a:cs typeface="Inter"/>
                <a:sym typeface="Inter"/>
              </a:rPr>
              <a:t>Every outcome is driven</a:t>
            </a:r>
            <a:br>
              <a:rPr lang="en-US" b="false" i="false" strike="noStrike" u="none" sz="1600">
                <a:solidFill>
                  <a:srgbClr val="B7C3D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false" i="false" strike="noStrike" u="none" sz="1600">
                <a:solidFill>
                  <a:srgbClr val="B7C3D6"/>
                </a:solidFill>
                <a:latin typeface="Inter"/>
                <a:ea typeface="Inter"/>
                <a:cs typeface="Inter"/>
                <a:sym typeface="Inter"/>
              </a:rPr>
              <a:t>by mechanical force.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445000" y="4699000"/>
            <a:ext cx="3302000" cy="1524000"/>
          </a:xfrm>
          <a:prstGeom prst="roundRect">
            <a:avLst>
              <a:gd name="adj" fmla="val 6666"/>
            </a:avLst>
          </a:prstGeom>
          <a:solidFill>
            <a:srgbClr val="FF3BD4">
              <a:alpha val="5000"/>
            </a:srgbClr>
          </a:solidFill>
          <a:ln w="12700" cmpd="sng" cap="flat">
            <a:solidFill>
              <a:srgbClr val="FF3BD4">
                <a:alpha val="3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3BD4"/>
                </a:solidFill>
                <a:latin typeface="Inter"/>
                <a:ea typeface="Inter"/>
                <a:cs typeface="Inter"/>
                <a:sym typeface="Inter"/>
              </a:rPr>
              <a:t>TRUTH VIA FRICTION</a:t>
            </a:r>
            <a:r>
              <a:rPr lang="en-US" b="false" i="false" strike="noStrike" u="none" sz="1600">
                <a:solidFill>
                  <a:srgbClr val="B7C3D6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br>
              <a:rPr lang="en-US" b="false" i="false" strike="noStrike" u="none" sz="1600">
                <a:solidFill>
                  <a:srgbClr val="B7C3D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false" i="false" strike="noStrike" u="none" sz="1600">
                <a:solidFill>
                  <a:srgbClr val="B7C3D6"/>
                </a:solidFill>
                <a:latin typeface="Inter"/>
                <a:ea typeface="Inter"/>
                <a:cs typeface="Inter"/>
                <a:sym typeface="Inter"/>
              </a:rPr>
              <a:t>The resistance of systems</a:t>
            </a:r>
            <a:br>
              <a:rPr lang="en-US" b="false" i="false" strike="noStrike" u="none" sz="1600">
                <a:solidFill>
                  <a:srgbClr val="B7C3D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false" i="false" strike="noStrike" u="none" sz="1600">
                <a:solidFill>
                  <a:srgbClr val="B7C3D6"/>
                </a:solidFill>
                <a:latin typeface="Inter"/>
                <a:ea typeface="Inter"/>
                <a:cs typeface="Inter"/>
                <a:sym typeface="Inter"/>
              </a:rPr>
              <a:t>validates their reality.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128000" y="4699000"/>
            <a:ext cx="3302000" cy="1524000"/>
          </a:xfrm>
          <a:prstGeom prst="roundRect">
            <a:avLst>
              <a:gd name="adj" fmla="val 6666"/>
            </a:avLst>
          </a:prstGeom>
          <a:solidFill>
            <a:srgbClr val="EAF2FF">
              <a:alpha val="5000"/>
            </a:srgbClr>
          </a:solidFill>
          <a:ln w="12700" cmpd="sng" cap="flat">
            <a:solidFill>
              <a:srgbClr val="EAF2FF">
                <a:alpha val="3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AF2FF"/>
                </a:solidFill>
                <a:latin typeface="Inter"/>
                <a:ea typeface="Inter"/>
                <a:cs typeface="Inter"/>
                <a:sym typeface="Inter"/>
              </a:rPr>
              <a:t>INEVITABILITY</a:t>
            </a:r>
            <a:r>
              <a:rPr lang="en-US" b="false" i="false" strike="noStrike" u="none" sz="1600">
                <a:solidFill>
                  <a:srgbClr val="B7C3D6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br>
              <a:rPr lang="en-US" b="false" i="false" strike="noStrike" u="none" sz="1600">
                <a:solidFill>
                  <a:srgbClr val="B7C3D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false" i="false" strike="noStrike" u="none" sz="1600">
                <a:solidFill>
                  <a:srgbClr val="B7C3D6"/>
                </a:solidFill>
                <a:latin typeface="Inter"/>
                <a:ea typeface="Inter"/>
                <a:cs typeface="Inter"/>
                <a:sym typeface="Inter"/>
              </a:rPr>
              <a:t>The mechanism continues</a:t>
            </a:r>
            <a:br>
              <a:rPr lang="en-US" b="false" i="false" strike="noStrike" u="none" sz="1600">
                <a:solidFill>
                  <a:srgbClr val="B7C3D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b="false" i="false" strike="noStrike" u="none" sz="1600">
                <a:solidFill>
                  <a:srgbClr val="B7C3D6"/>
                </a:solidFill>
                <a:latin typeface="Inter"/>
                <a:ea typeface="Inter"/>
                <a:cs typeface="Inter"/>
                <a:sym typeface="Inter"/>
              </a:rPr>
              <a:t>without sentiment.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A1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15271" r="15271" t="0" b="0"/>
          <a:stretch>
            <a:fillRect/>
          </a:stretch>
        </p:blipFill>
        <p:spPr>
          <a:xfrm rot="0" flipH="false" flipV="false">
            <a:off x="0" y="0"/>
            <a:ext cx="85344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8534400" y="0"/>
            <a:ext cx="3657600" cy="6858000"/>
          </a:xfrm>
          <a:prstGeom prst="roundRect">
            <a:avLst>
              <a:gd name="adj" fmla="val 0"/>
            </a:avLst>
          </a:prstGeom>
          <a:solidFill>
            <a:srgbClr val="070A1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4" id="4"/>
          <p:cNvCxnSpPr/>
          <p:nvPr/>
        </p:nvCxnSpPr>
        <p:spPr>
          <a:xfrm rot="5393633" flipH="false" flipV="false">
            <a:off x="5105400" y="3422656"/>
            <a:ext cx="685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3BD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8890000" y="1270000"/>
            <a:ext cx="3048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EA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Path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0" y="20320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3BD4"/>
                </a:solidFill>
                <a:latin typeface="Space Grotesk"/>
                <a:ea typeface="Space Grotesk"/>
                <a:cs typeface="Space Grotesk"/>
                <a:sym typeface="Space Grotesk"/>
              </a:rPr>
              <a:t>Bridge of Emergence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0" y="3048000"/>
            <a:ext cx="2921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B7C3D6"/>
                </a:solidFill>
                <a:latin typeface="Inter"/>
                <a:ea typeface="Inter"/>
                <a:cs typeface="Inter"/>
                <a:sym typeface="Inter"/>
              </a:rPr>
              <a:t>Crossing from collapse into coherence.</a:t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B7C3D6"/>
                </a:solidFill>
                <a:latin typeface="Inter"/>
                <a:ea typeface="Inter"/>
                <a:cs typeface="Inter"/>
                <a:sym typeface="Inter"/>
              </a:rPr>
              <a:t>The ash remembers the shape of what burned.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B7C3D6"/>
                </a:solidFill>
                <a:latin typeface="Inter"/>
                <a:ea typeface="Inter"/>
                <a:cs typeface="Inter"/>
                <a:sym typeface="Inter"/>
              </a:rPr>
              <a:t>Emergence is built, step by step, from fragments.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890000" y="5715000"/>
            <a:ext cx="2032000" cy="508000"/>
          </a:xfrm>
          <a:prstGeom prst="roundRect">
            <a:avLst>
              <a:gd name="adj" fmla="val 50000"/>
            </a:avLst>
          </a:prstGeom>
          <a:solidFill>
            <a:srgbClr val="20E3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70A12"/>
                </a:solidFill>
                <a:latin typeface="Space Grotesk"/>
                <a:ea typeface="Space Grotesk"/>
                <a:cs typeface="Space Grotesk"/>
                <a:sym typeface="Space Grotesk"/>
              </a:rPr>
              <a:t>REBUILD REALITY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